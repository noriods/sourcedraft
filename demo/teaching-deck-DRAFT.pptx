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as the main questions this session will answer.</a:t>
            </a:r>
          </a:p>
          <a:p>
            <a:r>
              <a:t>Ask which objective students feel least confident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Away founders example to show that even starting a business is a sequence of decisions.</a:t>
            </a:r>
          </a:p>
          <a:p>
            <a:r>
              <a:t>Ask why a scheduling decision can matter even if it does not determine firm survival.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what is wrong with treating management decisions like multiple-choice tests.</a:t>
            </a:r>
          </a:p>
          <a:p>
            <a:r>
              <a:t>Pitfall: students may think managers should simply wait for perfect information; waiting too long can also be harmful.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label one recent decision as reflective and one as reactive.</a:t>
            </a:r>
          </a:p>
          <a:p>
            <a:r>
              <a:t>Pitfall: students may say the reactive system is always worse; it can help with routine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one workplace example of a programmed decision and ask students to identify the rule.</a:t>
            </a:r>
          </a:p>
          <a:p>
            <a:r>
              <a:t>Pitfall: students may assume programmed decisions are always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why heuristics save time for programmed decisions but may hurt important nonprogrammed decisions.</a:t>
            </a:r>
          </a:p>
          <a:p>
            <a:r>
              <a:t>Use the Away founder case as a nonprogrammed decision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which step is easiest to rush and what quality may be lost.</a:t>
            </a:r>
          </a:p>
          <a:p>
            <a:r>
              <a:t>Pitfall: ignoring problems because they are unclear leads to bigger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name one low-risk managerial decision where satisficing is acceptable.</a:t>
            </a:r>
          </a:p>
          <a:p>
            <a:r>
              <a:t>Pitfall: time pressure can push managers toward heuristics when deep processing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distinguish incomplete information from cognitive limits in bounded rationality.</a:t>
            </a:r>
          </a:p>
          <a:p>
            <a:r>
              <a:t>Watch for students treating escalation of commitment as mere stubbornness rather than continued investment in a poor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Away founders' research to illustrate evidence-based decision-making.</a:t>
            </a:r>
          </a:p>
          <a:p>
            <a:r>
              <a:t>Pitfall: managers may generate only two alternatives and rush to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find the unspoken assumption in the competitor marketing example.</a:t>
            </a:r>
          </a:p>
          <a:p>
            <a:r>
              <a:t>Pitfall: dismissing an argument because of who said it rather than because of its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why a hiring committee with both men and women may reduce similarity bias.</a:t>
            </a:r>
          </a:p>
          <a:p>
            <a:r>
              <a:t>Pitfall: students may assume that more people automatically means better decisions without diversity of perspective.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recall a group that chose quick agreement over substantive discussion.</a:t>
            </a:r>
          </a:p>
          <a:p>
            <a:r>
              <a:t>Distinguish process conflict from relationship conflict so students do not label all disagreement as harmful.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which technique directly counters suppression of dissent.</a:t>
            </a:r>
          </a:p>
          <a:p>
            <a:r>
              <a:t>Pitfall: a devil's advocate may be treated as disloyal unless the role is framed as improving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revisiting the learning objectives and ask students which barrier or technique they will apply first.</a:t>
            </a:r>
          </a:p>
          <a:p>
            <a:r>
              <a:t>Watch for students leaving with a simple rule that fast decisions are always risky or slow decisions are always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Managerial Decision-Making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Describe basic characteristics of managerial decision-making.</a:t>
            </a:r>
          </a:p>
          <a:p>
            <a:r>
              <a:rPr sz="2200"/>
              <a:t>Contrast reflective and reactive decision-making systems.</a:t>
            </a:r>
          </a:p>
          <a:p>
            <a:r>
              <a:rPr sz="2200"/>
              <a:t>Distinguish programmed from nonprogrammed decisions.</a:t>
            </a:r>
          </a:p>
          <a:p>
            <a:r>
              <a:rPr sz="2200"/>
              <a:t>Identify barriers to effective decision-making, including confirmation bias.</a:t>
            </a:r>
          </a:p>
          <a:p>
            <a:r>
              <a:rPr sz="2200"/>
              <a:t>Apply techniques that improve individual and group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objectives.md#Learning objectives, openstax-ch2-managerial-decision-making.pdf#p1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Why Managerial Decision-Making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Managers make decisions on a daily basis.</a:t>
            </a:r>
          </a:p>
          <a:p>
            <a:r>
              <a:rPr sz="2200"/>
              <a:t>Decision-making is thinking through options and selecting one.</a:t>
            </a:r>
          </a:p>
          <a:p>
            <a:r>
              <a:rPr sz="2200"/>
              <a:t>Decision quality affects the organization and its stakeholders.</a:t>
            </a:r>
          </a:p>
          <a:p>
            <a:r>
              <a:rPr sz="2200"/>
              <a:t>Top managers decide about technology or product lines; lower-level managers affect departments.</a:t>
            </a:r>
          </a:p>
          <a:p>
            <a:r>
              <a:rPr sz="2200"/>
              <a:t>Stakeholders include owners, employees, customers, suppliers, and community members.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openstax-ch2-managerial-decision-making.pdf#p1, openstax-ch2-managerial-decision-making.pdf#p25, openstax-ch2-managerial-decision-making.pdf#p3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Basic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Managerial decisions often have significant impact and implications.</a:t>
            </a:r>
          </a:p>
          <a:p>
            <a:r>
              <a:rPr sz="2200"/>
              <a:t>They often involve complexity, incomplete information, and time constraints.</a:t>
            </a:r>
          </a:p>
          <a:p>
            <a:r>
              <a:rPr sz="2200"/>
              <a:t>There is rarely one right answer.</a:t>
            </a:r>
          </a:p>
          <a:p>
            <a:r>
              <a:rPr sz="2200"/>
              <a:t>Sometimes there are multiple good options or multiple bad options.</a:t>
            </a:r>
          </a:p>
          <a:p>
            <a:r>
              <a:rPr sz="2200"/>
              <a:t>Managers must weigh consequences and recognize conflicting stakeholder needs.</a:t>
            </a:r>
          </a:p>
          <a:p>
            <a:r>
              <a:rPr sz="2200"/>
              <a:t>Some decisions have ethical implications.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openstax-ch2-managerial-decision-making.pdf#p10, openstax-ch2-managerial-decision-making.pdf#p25, openstax-ch2-managerial-decision-making.pdf#p3, openstax-ch2-managerial-decision-making.pdf#p4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Two Brain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The reflective system is logical, analytical, and methodical.</a:t>
            </a:r>
          </a:p>
          <a:p>
            <a:r>
              <a:rPr sz="2200"/>
              <a:t>The reactive system is quick and intuitive.</a:t>
            </a:r>
          </a:p>
          <a:p>
            <a:r>
              <a:rPr sz="2200"/>
              <a:t>Nonprogrammed decisions generally need reflective processing.</a:t>
            </a:r>
          </a:p>
          <a:p>
            <a:r>
              <a:rPr sz="2200"/>
              <a:t>Programmed decisions can use reactive processing through heuristics.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objectives.md#Learning objectives, openstax-ch2-managerial-decision-making.pdf#p25, openstax-ch2-managerial-decision-making.pdf#p7, openstax-ch2-managerial-decision-making.pdf#p9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Programmed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Programmed decisions are repeated over time.</a:t>
            </a:r>
          </a:p>
          <a:p>
            <a:r>
              <a:rPr sz="2200"/>
              <a:t>They can be guided by existing rules or criteria.</a:t>
            </a:r>
          </a:p>
          <a:p>
            <a:r>
              <a:rPr sz="2200"/>
              <a:t>Their criteria may be simple or fairly complex.</a:t>
            </a:r>
          </a:p>
          <a:p>
            <a:r>
              <a:rPr sz="2200"/>
              <a:t>Example: scheduling part-time employees using anticipated business and availability.</a:t>
            </a:r>
          </a:p>
          <a:p>
            <a:r>
              <a:rPr sz="2200"/>
              <a:t>Example: ordering raw materials based on production, existing stock, and delivery timing.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openstax-ch2-managerial-decision-making.pdf#p25, openstax-ch2-managerial-decision-making.pdf#p7, publisher-slides-standin.pptx#slide4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Nonprogrammed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Nonprogrammed decisions are novel.</a:t>
            </a:r>
          </a:p>
          <a:p>
            <a:r>
              <a:rPr sz="2200"/>
              <a:t>They lack well-defined or known criteria.</a:t>
            </a:r>
          </a:p>
          <a:p>
            <a:r>
              <a:rPr sz="2200"/>
              <a:t>They require research, information, and other people's ideas.</a:t>
            </a:r>
          </a:p>
          <a:p>
            <a:r>
              <a:rPr sz="2200"/>
              <a:t>They should be handled with a systematic process.</a:t>
            </a:r>
          </a:p>
          <a:p>
            <a:r>
              <a:rPr sz="2200"/>
              <a:t>Example: deciding whether to pursue a new technology or product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openstax-ch2-managerial-decision-making.pdf#p1, openstax-ch2-managerial-decision-making.pdf#p10, openstax-ch2-managerial-decision-making.pdf#p14, openstax-ch2-managerial-decision-making.pdf#p25, openstax-ch2-managerial-decision-making.pdf#p3, openstax-ch2-managerial-decision-making.pdf#p7, openstax-ch2-managerial-decision-making.pdf#p9, publisher-slides-standin.pptx#slide4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Decision-Making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Step 1: Recognize that a decision needs to be made.</a:t>
            </a:r>
          </a:p>
          <a:p>
            <a:r>
              <a:rPr sz="2200"/>
              <a:t>Step 2: Generate multiple alternatives.</a:t>
            </a:r>
          </a:p>
          <a:p>
            <a:r>
              <a:rPr sz="2200"/>
              <a:t>Step 3: Analyze the alternatives.</a:t>
            </a:r>
          </a:p>
          <a:p>
            <a:r>
              <a:rPr sz="2200"/>
              <a:t>Step 4: Select an alternative.</a:t>
            </a:r>
          </a:p>
          <a:p>
            <a:r>
              <a:rPr sz="2200"/>
              <a:t>Step 5: Implement the selected alternative.</a:t>
            </a:r>
          </a:p>
          <a:p>
            <a:r>
              <a:rPr sz="2200"/>
              <a:t>Step 6: Evaluate its effectiveness.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openstax-ch2-managerial-decision-making.pdf#p14, openstax-ch2-managerial-decision-making.pdf#p15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Heuristics and Satisficing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Heuristics are mental shortcuts based on prior experience.</a:t>
            </a:r>
          </a:p>
          <a:p>
            <a:r>
              <a:rPr sz="2200"/>
              <a:t>Heuristics help managers reach good decisions quickly.</a:t>
            </a:r>
          </a:p>
          <a:p>
            <a:r>
              <a:rPr sz="2200"/>
              <a:t>Satisficing selects the first acceptable solution.</a:t>
            </a:r>
          </a:p>
          <a:p>
            <a:r>
              <a:rPr sz="2200"/>
              <a:t>Satisficing minimizes time spent on a decision.</a:t>
            </a:r>
          </a:p>
          <a:p>
            <a:r>
              <a:rPr sz="2200"/>
              <a:t>Example: choosing generic products quickly when they are cheap enough.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openstax-ch2-managerial-decision-making.pdf#p10, openstax-ch2-managerial-decision-making.pdf#p14, openstax-ch2-managerial-decision-making.pdf#p25, openstax-ch2-managerial-decision-making.pdf#p7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Barriers to Effective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Bounded rationality limits full rationality because information and processing are incomplete.</a:t>
            </a:r>
          </a:p>
          <a:p>
            <a:r>
              <a:rPr sz="2200"/>
              <a:t>Escalation of commitment keeps decision makers invested in poor decisions despite negative outcomes.</a:t>
            </a:r>
          </a:p>
          <a:p>
            <a:r>
              <a:rPr sz="2200"/>
              <a:t>Time constraints can prevent enough information collection and deep processing.</a:t>
            </a:r>
          </a:p>
          <a:p>
            <a:r>
              <a:rPr sz="2200"/>
              <a:t>Uncertainty means outcomes may be unknown until a choice is made.</a:t>
            </a:r>
          </a:p>
          <a:p>
            <a:r>
              <a:rPr sz="2200"/>
              <a:t>Personal biases favor familiar people, things, and ideas.</a:t>
            </a:r>
          </a:p>
          <a:p>
            <a:r>
              <a:rPr sz="2200"/>
              <a:t>Confirmation bias favors information that confirms existing beliefs.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objectives.md#Learning objectives, openstax-ch2-managerial-decision-making.pdf#p10, openstax-ch2-managerial-decision-making.pdf#p25, openstax-ch2-managerial-decision-making.pdf#p9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Improving Individual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Be creative to generate more options.</a:t>
            </a:r>
          </a:p>
          <a:p>
            <a:r>
              <a:rPr sz="2200"/>
              <a:t>Conduct research and use evidence-based decision-making.</a:t>
            </a:r>
          </a:p>
          <a:p>
            <a:r>
              <a:rPr sz="2200"/>
              <a:t>Evidence-based decision-making relies on best available evidence and data.</a:t>
            </a:r>
          </a:p>
          <a:p>
            <a:r>
              <a:rPr sz="2200"/>
              <a:t>Engage in critical thinking.</a:t>
            </a:r>
          </a:p>
          <a:p>
            <a:r>
              <a:rPr sz="2200"/>
              <a:t>Think about long-term implications.</a:t>
            </a:r>
          </a:p>
          <a:p>
            <a:r>
              <a:rPr sz="2200"/>
              <a:t>Consider ethical implications.</a:t>
            </a:r>
          </a:p>
          <a:p>
            <a:r>
              <a:rPr sz="2200"/>
              <a:t>Talk to other people, especially mentors, to generate alternatives.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openstax-ch2-managerial-decision-making.pdf#p1, openstax-ch2-managerial-decision-making.pdf#p14, openstax-ch2-managerial-decision-making.pdf#p15, openstax-ch2-managerial-decision-making.pdf#p25, openstax-ch2-managerial-decision-making.pdf#p4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Common Logical Fallacies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Non sequitur: the conclusion does not logically follow from the argument.</a:t>
            </a:r>
          </a:p>
          <a:p>
            <a:r>
              <a:rPr sz="2200"/>
              <a:t>For non sequiturs, examine arguments, assumptions, and supporting evidence.</a:t>
            </a:r>
          </a:p>
          <a:p>
            <a:r>
              <a:rPr sz="2200"/>
              <a:t>False cause: assuming that because two things are related, one caused the other.</a:t>
            </a:r>
          </a:p>
          <a:p>
            <a:r>
              <a:rPr sz="2200"/>
              <a:t>For false cause, ask whether another factor may explain the relationship.</a:t>
            </a:r>
          </a:p>
          <a:p>
            <a:r>
              <a:rPr sz="2200"/>
              <a:t>Ad hominem: attacking the person rather than the argument.</a:t>
            </a:r>
          </a:p>
          <a:p>
            <a:r>
              <a:rPr sz="2200"/>
              <a:t>For ad hominem, ask whether the argument would be persuasive if stated by someone else.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openstax-ch2-managerial-decision-making.pdf#p17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Advantages of Group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Groups can incorporate different perspectives and ideas.</a:t>
            </a:r>
          </a:p>
          <a:p>
            <a:r>
              <a:rPr sz="2200"/>
              <a:t>Diverse groups bring different preferences, opinions, biases, and stereotypes.</a:t>
            </a:r>
          </a:p>
          <a:p>
            <a:r>
              <a:rPr sz="2200"/>
              <a:t>More people often bring unique information and knowledge.</a:t>
            </a:r>
          </a:p>
          <a:p>
            <a:r>
              <a:rPr sz="2200"/>
              <a:t>Group decision-making often generates more options.</a:t>
            </a:r>
          </a:p>
          <a:p>
            <a:r>
              <a:rPr sz="2200"/>
              <a:t>Brainstorming generates as many solutions or options as possible.</a:t>
            </a:r>
          </a:p>
          <a:p>
            <a:r>
              <a:rPr sz="2200"/>
              <a:t>Affected people may have greater understanding and commitment.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openstax-ch2-managerial-decision-making.pdf#p22, openstax-ch2-managerial-decision-making.pdf#p24, openstax-ch2-managerial-decision-making.pdf#p25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Disadvantages of Group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Groups can get bogged down by conflict.</a:t>
            </a:r>
          </a:p>
          <a:p>
            <a:r>
              <a:rPr sz="2200"/>
              <a:t>Some groups push for agreement at the expense of quality discussion.</a:t>
            </a:r>
          </a:p>
          <a:p>
            <a:r>
              <a:rPr sz="2200"/>
              <a:t>Groupthink occurs when members withhold concerns to keep peace.</a:t>
            </a:r>
          </a:p>
          <a:p>
            <a:r>
              <a:rPr sz="2200"/>
              <a:t>Groupthink can arise from team spirit and fear of disrupting camaraderie.</a:t>
            </a:r>
          </a:p>
          <a:p>
            <a:r>
              <a:rPr sz="2200"/>
              <a:t>Suppression of dissent occurs when a member uses power to prevent others from speaking.</a:t>
            </a:r>
          </a:p>
          <a:p>
            <a:r>
              <a:rPr sz="2200"/>
              <a:t>Process conflict is task-oriented and constructive.</a:t>
            </a:r>
          </a:p>
          <a:p>
            <a:r>
              <a:rPr sz="2200"/>
              <a:t>Relationship conflict is personality-based and tends to be destructive.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openstax-ch2-managerial-decision-making.pdf#p22, openstax-ch2-managerial-decision-making.pdf#p25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Improving Group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Have diverse members in the group.</a:t>
            </a:r>
          </a:p>
          <a:p>
            <a:r>
              <a:rPr sz="2200"/>
              <a:t>Diversity can generate more options and reduce bias.</a:t>
            </a:r>
          </a:p>
          <a:p>
            <a:r>
              <a:rPr sz="2200"/>
              <a:t>Assign a devil's advocate.</a:t>
            </a:r>
          </a:p>
          <a:p>
            <a:r>
              <a:rPr sz="2200"/>
              <a:t>A devil's advocate critiques group ideas to discourage groupthink.</a:t>
            </a:r>
          </a:p>
          <a:p>
            <a:r>
              <a:rPr sz="2200"/>
              <a:t>Encourage everyone to speak up and contribute.</a:t>
            </a:r>
          </a:p>
          <a:p>
            <a:r>
              <a:rPr sz="2200"/>
              <a:t>Help group members find common ground.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openstax-ch2-managerial-decision-making.pdf#p24, openstax-ch2-managerial-decision-making.pdf#p25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6280"/>
          </a:xfrm>
        </p:spPr>
        <p:txBody>
          <a:bodyPr/>
          <a:lstStyle/>
          <a:p>
            <a:r>
              <a:rPr sz="2200"/>
              <a:t>Decision-making is a crucial daily activity for managers.</a:t>
            </a:r>
          </a:p>
          <a:p>
            <a:r>
              <a:rPr sz="2200"/>
              <a:t>Decisions range from small and simple to big and complex.</a:t>
            </a:r>
          </a:p>
          <a:p>
            <a:r>
              <a:rPr sz="2200"/>
              <a:t>Expertise develops through learning and experience.</a:t>
            </a:r>
          </a:p>
          <a:p>
            <a:r>
              <a:rPr sz="2200"/>
              <a:t>Managers should collect information, notice biases, consider ethics, and think critically.</a:t>
            </a:r>
          </a:p>
          <a:p>
            <a:r>
              <a:rPr sz="2200"/>
              <a:t>Effective decisions benefit the organization and its stakeholders.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093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E6E6E"/>
                </a:solidFill>
              </a:rPr>
              <a:t>Sources: objectives.md#Learning objectives, openstax-ch2-managerial-decision-making.pdf#p14, openstax-ch2-managerial-decision-making.pdf#p25, openstax-ch2-managerial-decision-making.pdf#p3</a:t>
            </a:r>
          </a:p>
        </p:txBody>
      </p:sp>
      <p:sp>
        <p:nvSpPr>
          <p:cNvPr id="5" name="TextBox 4"/>
          <p:cNvSpPr txBox="1"/>
          <p:nvPr/>
        </p:nvSpPr>
        <p:spPr>
          <a:xfrm rot="20100000">
            <a:off x="0" y="24003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BEBE"/>
                </a:solidFill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